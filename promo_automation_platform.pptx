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promo automation platform: capture a campaign once, turn it into a repeatable generator, and every run ends at a verified draft you paste into the backoffice. Three parts: the FastAPI admin hub, the campaign generators, and the AI journey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platform is three parts. The Optimization hub surfaces every generator on one page. The journey-cloner generators turn captures into repeatable builders. The AI planner takes a brief all the way to paste-ready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is the headline. Every refusal maps to a real failure that once reached a draft. It refuses rather than warns: unregistered games are never swapped, captured content never leaks, the two storages must agree, and the template is the source of truth for anything not explicitly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extends itself. To support a new promo you record it once in DevTools and hand the HAR to Claude, which returns a working generator. The HAR is a credential dump: scrubbed on load, never persisted, never committed.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architectural move: the server never calls the backoffice, because the only valid credential is a short-lived token in the browser. Generators emit a console script the operator pastes into a logged-in tab. Every activity id is regenerated per draft, and the two storages of a journey are kept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common case, the operator pastes a plain brief or a spreadsheet and gets many verified drafts back in one script: discount notifications, tournament comms across four channels, and randomizer wheels that now need only a date. The AI planner goes further: brief to plan to design boards to paste-ready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the platform builds runs on one spine: capture, scrub the secrets, store a template, substitute the per-run values, verify (refusing rather than warning), then emit the paste script that creates the draft. The verify step is the heart of it — it would rather emit nothing than emit something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it matters to the team: builds drop from an afternoon of clicking to a single paste, mis-sends become structurally hard rather than a matter of vigilance, everything stays a draft for human review, and one hub keeps the whole catalogue visible and in sync with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600">
                <a:solidFill>
                  <a:srgbClr val="F0613C"/>
                </a:solidFill>
                <a:latin typeface="Calibri"/>
              </a:rPr>
              <a:t>JUGABET CRM   ·   PROMO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822960" cy="109728"/>
          </a:xfrm>
          <a:prstGeom prst="rect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011680"/>
            <a:ext cx="10789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spc="300">
                <a:solidFill>
                  <a:srgbClr val="FFFFFF"/>
                </a:solidFill>
                <a:latin typeface="Calibri"/>
              </a:rPr>
              <a:t>One paste.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spc="300">
                <a:solidFill>
                  <a:srgbClr val="FFFFFF"/>
                </a:solidFill>
                <a:latin typeface="Calibri"/>
              </a:rPr>
              <a:t>A verified promo draft.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15968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300">
                <a:solidFill>
                  <a:srgbClr val="CBD2DE"/>
                </a:solidFill>
                <a:latin typeface="Calibri"/>
              </a:rPr>
              <a:t>Capture a campaign once. Generate it forever. Ship nothing wrong.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468112"/>
            <a:ext cx="146304" cy="146304"/>
          </a:xfrm>
          <a:prstGeom prst="rect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349240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300">
                <a:solidFill>
                  <a:srgbClr val="FFFFFF"/>
                </a:solidFill>
                <a:latin typeface="Calibri"/>
              </a:rPr>
              <a:t>FastAPI 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5468112"/>
            <a:ext cx="146304" cy="146304"/>
          </a:xfrm>
          <a:prstGeom prst="rect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5349240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300">
                <a:solidFill>
                  <a:srgbClr val="FFFFFF"/>
                </a:solidFill>
                <a:latin typeface="Calibri"/>
              </a:rPr>
              <a:t>Campaign generators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5468112"/>
            <a:ext cx="146304" cy="146304"/>
          </a:xfrm>
          <a:prstGeom prst="rect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1" y="5349240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300">
                <a:solidFill>
                  <a:srgbClr val="FFFFFF"/>
                </a:solidFill>
                <a:latin typeface="Calibri"/>
              </a:rPr>
              <a:t>AI journey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70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600">
                <a:solidFill>
                  <a:srgbClr val="F0613C"/>
                </a:solidFill>
                <a:latin typeface="Calibri"/>
              </a:rPr>
              <a:t>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spc="300">
                <a:solidFill>
                  <a:srgbClr val="15171D"/>
                </a:solidFill>
                <a:latin typeface="Calibri"/>
              </a:rPr>
              <a:t>Three parts, one promise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3429000" cy="3611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2377440"/>
            <a:ext cx="777240" cy="777240"/>
          </a:xfrm>
          <a:prstGeom prst="ellipse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37744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32918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300">
                <a:solidFill>
                  <a:srgbClr val="15171D"/>
                </a:solidFill>
                <a:latin typeface="Calibri"/>
              </a:rPr>
              <a:t>Optimization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840480"/>
            <a:ext cx="28803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spc="300">
                <a:solidFill>
                  <a:srgbClr val="3A4150"/>
                </a:solidFill>
                <a:latin typeface="Calibri"/>
              </a:rPr>
              <a:t>A FastAPI admin where every promo generator lives on one page — checked against the codebase, so a generator can never be silently missing.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429000" cy="3611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2377440"/>
            <a:ext cx="777240" cy="777240"/>
          </a:xfrm>
          <a:prstGeom prst="ellipse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300">
                <a:solidFill>
                  <a:srgbClr val="15171D"/>
                </a:solidFill>
                <a:latin typeface="Calibri"/>
              </a:rPr>
              <a:t>Campaign generators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40480"/>
            <a:ext cx="28803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spc="300">
                <a:solidFill>
                  <a:srgbClr val="3A4150"/>
                </a:solidFill>
                <a:latin typeface="Calibri"/>
              </a:rPr>
              <a:t>journey-cloner turns a captured promo into a repeatable generator: GOW, tournaments, discounts, wheels, scratch cards.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057400"/>
            <a:ext cx="3429000" cy="3611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59" y="2377440"/>
            <a:ext cx="777240" cy="777240"/>
          </a:xfrm>
          <a:prstGeom prst="ellipse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237744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2918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300">
                <a:solidFill>
                  <a:srgbClr val="15171D"/>
                </a:solidFill>
                <a:latin typeface="Calibri"/>
              </a:rPr>
              <a:t>AI journey planner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840480"/>
            <a:ext cx="28803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spc="300">
                <a:solidFill>
                  <a:srgbClr val="3A4150"/>
                </a:solidFill>
                <a:latin typeface="Calibri"/>
              </a:rPr>
              <a:t>A brief becomes a plan, design boards, and ready-to-paste console scripts — with typed, validated, unit-aware knobs.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2DE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600">
                <a:solidFill>
                  <a:srgbClr val="F0613C"/>
                </a:solidFill>
                <a:latin typeface="Calibri"/>
              </a:rPr>
              <a:t>SAFETY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spc="300">
                <a:solidFill>
                  <a:srgbClr val="15171D"/>
                </a:solidFill>
                <a:latin typeface="Calibri"/>
              </a:rPr>
              <a:t>A refusal is the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300">
                <a:solidFill>
                  <a:srgbClr val="6B7280"/>
                </a:solidFill>
                <a:latin typeface="Calibri"/>
              </a:rPr>
              <a:t>Every guard was written after a real broken draft reached a real preview. The system refuses rather than warns — so you fix the input, never weaken the guard.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5120640" cy="153619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0613C"/>
                </a:solidFill>
                <a:latin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5234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300">
                <a:solidFill>
                  <a:srgbClr val="15171D"/>
                </a:solidFill>
                <a:latin typeface="Calibri"/>
              </a:rPr>
              <a:t>No captured leftovers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54680"/>
            <a:ext cx="4023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300">
                <a:solidFill>
                  <a:srgbClr val="3A4150"/>
                </a:solidFill>
                <a:latin typeface="Calibri"/>
              </a:rPr>
              <a:t>Content still shared with the source campaign never 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514600"/>
            <a:ext cx="5120640" cy="153619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7889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0613C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75234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300">
                <a:solidFill>
                  <a:srgbClr val="15171D"/>
                </a:solidFill>
                <a:latin typeface="Calibri"/>
              </a:rPr>
              <a:t>No near-match games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154680"/>
            <a:ext cx="4023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300">
                <a:solidFill>
                  <a:srgbClr val="3A4150"/>
                </a:solidFill>
                <a:latin typeface="Calibri"/>
              </a:rPr>
              <a:t>An unregistered game is never quietly swapped for a lookalike.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51960"/>
            <a:ext cx="5120640" cy="153619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0613C"/>
                </a:solidFill>
                <a:latin typeface="Calibr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48970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300">
                <a:solidFill>
                  <a:srgbClr val="15171D"/>
                </a:solidFill>
                <a:latin typeface="Calibri"/>
              </a:rPr>
              <a:t>Both storages or neither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92040"/>
            <a:ext cx="4023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300">
                <a:solidFill>
                  <a:srgbClr val="3A4150"/>
                </a:solidFill>
                <a:latin typeface="Calibri"/>
              </a:rPr>
              <a:t>A journey lives twice; if the two copies disagree it refuses, rather than open a blank canvas.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251960"/>
            <a:ext cx="5120640" cy="153619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5262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0613C"/>
                </a:solidFill>
                <a:latin typeface="Calibr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48970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300">
                <a:solidFill>
                  <a:srgbClr val="15171D"/>
                </a:solidFill>
                <a:latin typeface="Calibri"/>
              </a:rPr>
              <a:t>The template is truth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892040"/>
            <a:ext cx="4023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300">
                <a:solidFill>
                  <a:srgbClr val="3A4150"/>
                </a:solidFill>
                <a:latin typeface="Calibri"/>
              </a:rPr>
              <a:t>Anything not explicitly substituted stays as captured — so a 200.000 max bonus can't silently ship as 50.000.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2DE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600">
                <a:solidFill>
                  <a:srgbClr val="F0613C"/>
                </a:solidFill>
                <a:latin typeface="Calibri"/>
              </a:rPr>
              <a:t>SELF-EXTENDING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300">
                <a:solidFill>
                  <a:srgbClr val="15171D"/>
                </a:solidFill>
                <a:latin typeface="Calibri"/>
              </a:rPr>
              <a:t>Record it once. Get a generator 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3291840" cy="2880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2606040"/>
            <a:ext cx="914400" cy="914400"/>
          </a:xfrm>
          <a:prstGeom prst="ellipse">
            <a:avLst/>
          </a:prstGeom>
          <a:solidFill>
            <a:srgbClr val="15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6060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0613C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300">
                <a:solidFill>
                  <a:srgbClr val="15171D"/>
                </a:solidFill>
                <a:latin typeface="Calibri"/>
              </a:rP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300">
                <a:solidFill>
                  <a:srgbClr val="3A4150"/>
                </a:solidFill>
                <a:latin typeface="Calibri"/>
              </a:rPr>
              <a:t>Record the promo by hand in DevTools — one real run through the backoffice.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35204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0613C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86000"/>
            <a:ext cx="3291840" cy="2880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15000" y="2606040"/>
            <a:ext cx="914400" cy="914400"/>
          </a:xfrm>
          <a:prstGeom prst="ellipse">
            <a:avLst/>
          </a:prstGeom>
          <a:solidFill>
            <a:srgbClr val="15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26060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0613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7033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300">
                <a:solidFill>
                  <a:srgbClr val="15171D"/>
                </a:solidFill>
                <a:latin typeface="Calibri"/>
              </a:rPr>
              <a:t>Hand off the HAR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1605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300">
                <a:solidFill>
                  <a:srgbClr val="3A4150"/>
                </a:solidFill>
                <a:latin typeface="Calibri"/>
              </a:rPr>
              <a:t>Give the capture to Claude. It's a credential dump — scrubbed on load, never stored.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204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0613C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286000"/>
            <a:ext cx="3291840" cy="2880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0" y="2606040"/>
            <a:ext cx="914400" cy="914400"/>
          </a:xfrm>
          <a:prstGeom prst="ellipse">
            <a:avLst/>
          </a:prstGeom>
          <a:solidFill>
            <a:srgbClr val="15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6060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0613C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033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300">
                <a:solidFill>
                  <a:srgbClr val="15171D"/>
                </a:solidFill>
                <a:latin typeface="Calibri"/>
              </a:rPr>
              <a:t>Generator returned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1605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300">
                <a:solidFill>
                  <a:srgbClr val="3A4150"/>
                </a:solidFill>
                <a:latin typeface="Calibri"/>
              </a:rPr>
              <a:t>Out comes a repeatable generator: template, verify step, and paste script.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 spc="300">
                <a:solidFill>
                  <a:srgbClr val="F0613C"/>
                </a:solidFill>
                <a:latin typeface="Calibri"/>
              </a:rPr>
              <a:t>New promo shapes become new automations — without new backend code.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2DE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600">
                <a:solidFill>
                  <a:srgbClr val="F0613C"/>
                </a:solidFill>
                <a:latin typeface="Calibri"/>
              </a:rPr>
              <a:t>THE ARCHITECTURE TRICK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300">
                <a:solidFill>
                  <a:srgbClr val="15171D"/>
                </a:solidFill>
                <a:latin typeface="Calibri"/>
              </a:rPr>
              <a:t>The server never touches the backoffice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300">
                <a:solidFill>
                  <a:srgbClr val="6B7280"/>
                </a:solidFill>
                <a:latin typeface="Calibri"/>
              </a:rPr>
              <a:t>Auth is a short-lived token only the browser holds. So every generator ends at a console script you paste into a logged-in tab — the safest possible boundary.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06040"/>
            <a:ext cx="2468880" cy="12344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606040"/>
            <a:ext cx="22860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15171D"/>
                </a:solidFill>
                <a:latin typeface="Calibri"/>
              </a:rPr>
              <a:t>Generator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15171D"/>
                </a:solidFill>
                <a:latin typeface="Calibri"/>
              </a:rPr>
              <a:t>builds the body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29992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0613C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606040"/>
            <a:ext cx="2468880" cy="12344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2606040"/>
            <a:ext cx="22860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15171D"/>
                </a:solidFill>
                <a:latin typeface="Calibri"/>
              </a:rPr>
              <a:t>Console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15171D"/>
                </a:solidFill>
                <a:latin typeface="Calibri"/>
              </a:rPr>
              <a:t>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7608" y="29992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0613C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606040"/>
            <a:ext cx="2468880" cy="123444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06040"/>
            <a:ext cx="22860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15171D"/>
                </a:solidFill>
                <a:latin typeface="Calibri"/>
              </a:rPr>
              <a:t>Paste in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15171D"/>
                </a:solidFill>
                <a:latin typeface="Calibri"/>
              </a:rPr>
              <a:t>logged-in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9992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0613C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59" y="2606040"/>
            <a:ext cx="2468880" cy="1234440"/>
          </a:xfrm>
          <a:prstGeom prst="roundRect">
            <a:avLst>
              <a:gd name="adj" fmla="val 9000"/>
            </a:avLst>
          </a:prstGeom>
          <a:solidFill>
            <a:srgbClr val="FCEAE3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599" y="2606040"/>
            <a:ext cx="22860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15171D"/>
                </a:solidFill>
                <a:latin typeface="Calibri"/>
              </a:rPr>
              <a:t>Draft in the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15171D"/>
                </a:solidFill>
                <a:latin typeface="Calibri"/>
              </a:rPr>
              <a:t>backoffice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348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00">
                <a:solidFill>
                  <a:srgbClr val="15171D"/>
                </a:solidFill>
                <a:latin typeface="Calibri"/>
              </a:rPr>
              <a:t>Every id regenerated per 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2803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300">
                <a:solidFill>
                  <a:srgbClr val="3A4150"/>
                </a:solidFill>
                <a:latin typeface="Calibri"/>
              </a:rPr>
              <a:t>No collisions when the same template is cloned again and again.</a:t>
            </a:r>
          </a:p>
        </p:txBody>
      </p:sp>
      <p:sp>
        <p:nvSpPr>
          <p:cNvPr id="20" name="Oval 19"/>
          <p:cNvSpPr/>
          <p:nvPr/>
        </p:nvSpPr>
        <p:spPr>
          <a:xfrm>
            <a:off x="6080760" y="4480560"/>
            <a:ext cx="457200" cy="457200"/>
          </a:xfrm>
          <a:prstGeom prst="ellipse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4480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4348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00">
                <a:solidFill>
                  <a:srgbClr val="15171D"/>
                </a:solidFill>
                <a:latin typeface="Calibri"/>
              </a:rPr>
              <a:t>Compiled + editor mirror in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82803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300">
                <a:solidFill>
                  <a:srgbClr val="3A4150"/>
                </a:solidFill>
                <a:latin typeface="Calibri"/>
              </a:rPr>
              <a:t>Both copies of a journey stay byte-identical, so the builder canvas is never blank.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2DE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600">
                <a:solidFill>
                  <a:srgbClr val="F0613C"/>
                </a:solidFill>
                <a:latin typeface="Calibri"/>
              </a:rPr>
              <a:t>PASTE-AND-GO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spc="300">
                <a:solidFill>
                  <a:srgbClr val="15171D"/>
                </a:solidFill>
                <a:latin typeface="Calibri"/>
              </a:rPr>
              <a:t>A brief in. Ten drafts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300">
                <a:solidFill>
                  <a:srgbClr val="6B7280"/>
                </a:solidFill>
                <a:latin typeface="Calibri"/>
              </a:rPr>
              <a:t>Paste a plain ops brief or a Google-sheet. The system parses it, substitutes per-run values, verifies every field, and emits every draft in a single script.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3429000" cy="1965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19" y="2852928"/>
            <a:ext cx="146304" cy="146304"/>
          </a:xfrm>
          <a:prstGeom prst="rect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7" y="271576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300">
                <a:solidFill>
                  <a:srgbClr val="15171D"/>
                </a:solidFill>
                <a:latin typeface="Calibri"/>
              </a:rPr>
              <a:t>Discount 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246120"/>
            <a:ext cx="2880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300">
                <a:solidFill>
                  <a:srgbClr val="3A4150"/>
                </a:solidFill>
                <a:latin typeface="Calibri"/>
              </a:rPr>
              <a:t>Ten game-of-the-day notifications built from one calendar, one paste.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514600"/>
            <a:ext cx="3429000" cy="1965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852928"/>
            <a:ext cx="146304" cy="146304"/>
          </a:xfrm>
          <a:prstGeom prst="rect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271576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300">
                <a:solidFill>
                  <a:srgbClr val="15171D"/>
                </a:solidFill>
                <a:latin typeface="Calibri"/>
              </a:rPr>
              <a:t>Tournament comms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46120"/>
            <a:ext cx="2880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300">
                <a:solidFill>
                  <a:srgbClr val="3A4150"/>
                </a:solidFill>
                <a:latin typeface="Calibri"/>
              </a:rPr>
              <a:t>Notification + pop-up + SMS + email — all four channels, one journey.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514600"/>
            <a:ext cx="3429000" cy="1965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59" y="2852928"/>
            <a:ext cx="146304" cy="146304"/>
          </a:xfrm>
          <a:prstGeom prst="rect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7" y="271576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 spc="300">
                <a:solidFill>
                  <a:srgbClr val="15171D"/>
                </a:solidFill>
                <a:latin typeface="Calibri"/>
              </a:rPr>
              <a:t>Wheels &amp; scratch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246120"/>
            <a:ext cx="2880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300">
                <a:solidFill>
                  <a:srgbClr val="3A4150"/>
                </a:solidFill>
                <a:latin typeface="Calibri"/>
              </a:rPr>
              <a:t>A date is all it needs; prizes, copy and routing are baked 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00600"/>
            <a:ext cx="10908792" cy="1051560"/>
          </a:xfrm>
          <a:prstGeom prst="roundRect">
            <a:avLst>
              <a:gd name="adj" fmla="val 9000"/>
            </a:avLst>
          </a:prstGeom>
          <a:solidFill>
            <a:srgbClr val="15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10424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300">
                <a:solidFill>
                  <a:srgbClr val="F0613C"/>
                </a:solidFill>
                <a:latin typeface="Calibri"/>
              </a:rPr>
              <a:t>AI planner:  </a:t>
            </a:r>
            <a:r>
              <a:rPr sz="2100" b="1" i="0" spc="300">
                <a:solidFill>
                  <a:srgbClr val="FFFFFF"/>
                </a:solidFill>
                <a:latin typeface="Calibri"/>
              </a:rPr>
              <a:t>brief  →  plan  →  design boards  →  console 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2DE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600">
                <a:solidFill>
                  <a:srgbClr val="F0613C"/>
                </a:solidFill>
                <a:latin typeface="Calibri"/>
              </a:rPr>
              <a:t>HOW IT ALL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300">
                <a:solidFill>
                  <a:srgbClr val="FFFFFF"/>
                </a:solidFill>
                <a:latin typeface="Calibri"/>
              </a:rPr>
              <a:t>The same spine, every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7151" y="2834640"/>
            <a:ext cx="1371600" cy="1051560"/>
          </a:xfrm>
          <a:prstGeom prst="roundRect">
            <a:avLst>
              <a:gd name="adj" fmla="val 10000"/>
            </a:avLst>
          </a:prstGeom>
          <a:solidFill>
            <a:srgbClr val="23262F"/>
          </a:solidFill>
          <a:ln w="12700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7151" y="2834640"/>
            <a:ext cx="1371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FFFFFF"/>
                </a:solidFill>
                <a:latin typeface="Calibri"/>
              </a:rPr>
              <a:t>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0463" y="2834640"/>
            <a:ext cx="29260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A62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4783" y="2834640"/>
            <a:ext cx="1371600" cy="1051560"/>
          </a:xfrm>
          <a:prstGeom prst="roundRect">
            <a:avLst>
              <a:gd name="adj" fmla="val 10000"/>
            </a:avLst>
          </a:prstGeom>
          <a:solidFill>
            <a:srgbClr val="23262F"/>
          </a:solidFill>
          <a:ln w="12700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54783" y="2834640"/>
            <a:ext cx="1371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FFFFFF"/>
                </a:solidFill>
                <a:latin typeface="Calibri"/>
              </a:rPr>
              <a:t>Scrub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8095" y="2834640"/>
            <a:ext cx="29260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A6270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2415" y="2834640"/>
            <a:ext cx="1371600" cy="1051560"/>
          </a:xfrm>
          <a:prstGeom prst="roundRect">
            <a:avLst>
              <a:gd name="adj" fmla="val 10000"/>
            </a:avLst>
          </a:prstGeom>
          <a:solidFill>
            <a:srgbClr val="23262F"/>
          </a:solidFill>
          <a:ln w="12700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2415" y="2834640"/>
            <a:ext cx="1371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FFFFFF"/>
                </a:solidFill>
                <a:latin typeface="Calibri"/>
              </a:rPr>
              <a:t>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727" y="2834640"/>
            <a:ext cx="29260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A627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10047" y="2834640"/>
            <a:ext cx="1371600" cy="1051560"/>
          </a:xfrm>
          <a:prstGeom prst="roundRect">
            <a:avLst>
              <a:gd name="adj" fmla="val 10000"/>
            </a:avLst>
          </a:prstGeom>
          <a:solidFill>
            <a:srgbClr val="23262F"/>
          </a:solidFill>
          <a:ln w="12700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0047" y="2834640"/>
            <a:ext cx="1371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FFFFFF"/>
                </a:solidFill>
                <a:latin typeface="Calibri"/>
              </a:rPr>
              <a:t>Substitute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3359" y="2834640"/>
            <a:ext cx="29260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A627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37679" y="2834640"/>
            <a:ext cx="1371600" cy="1051560"/>
          </a:xfrm>
          <a:prstGeom prst="roundRect">
            <a:avLst>
              <a:gd name="adj" fmla="val 10000"/>
            </a:avLst>
          </a:prstGeom>
          <a:solidFill>
            <a:srgbClr val="F0613C"/>
          </a:solidFill>
          <a:ln w="12700">
            <a:solidFill>
              <a:srgbClr val="F06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37679" y="2834640"/>
            <a:ext cx="1371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0991" y="2834640"/>
            <a:ext cx="29260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A627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65311" y="2834640"/>
            <a:ext cx="1371600" cy="1051560"/>
          </a:xfrm>
          <a:prstGeom prst="roundRect">
            <a:avLst>
              <a:gd name="adj" fmla="val 10000"/>
            </a:avLst>
          </a:prstGeom>
          <a:solidFill>
            <a:srgbClr val="23262F"/>
          </a:solidFill>
          <a:ln w="12700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5311" y="2834640"/>
            <a:ext cx="1371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FFFFFF"/>
                </a:solidFill>
                <a:latin typeface="Calibri"/>
              </a:rPr>
              <a:t>Paste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8623" y="2834640"/>
            <a:ext cx="292608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A6270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92943" y="2834640"/>
            <a:ext cx="1371600" cy="1051560"/>
          </a:xfrm>
          <a:prstGeom prst="roundRect">
            <a:avLst>
              <a:gd name="adj" fmla="val 10000"/>
            </a:avLst>
          </a:prstGeom>
          <a:solidFill>
            <a:srgbClr val="23262F"/>
          </a:solidFill>
          <a:ln w="12700">
            <a:solidFill>
              <a:srgbClr val="3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92943" y="2834640"/>
            <a:ext cx="1371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300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0479" y="397763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 spc="300">
                <a:solidFill>
                  <a:srgbClr val="F0613C"/>
                </a:solidFill>
                <a:latin typeface="Calibri"/>
              </a:rPr>
              <a:t>refuses rather than warns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300">
                <a:solidFill>
                  <a:srgbClr val="CBD2DE"/>
                </a:solidFill>
                <a:latin typeface="Calibri"/>
              </a:rPr>
              <a:t>One capture. One template. One verify that would rather emit nothing than emit the wrong thing.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7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600">
                <a:solidFill>
                  <a:srgbClr val="F0613C"/>
                </a:solidFill>
                <a:latin typeface="Calibri"/>
              </a:rPr>
              <a:t>WHY IT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27632"/>
            <a:ext cx="822960" cy="109728"/>
          </a:xfrm>
          <a:prstGeom prst="rect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74519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spc="300">
                <a:solidFill>
                  <a:srgbClr val="FFFFFF"/>
                </a:solidFill>
                <a:latin typeface="Calibri"/>
              </a:rPr>
              <a:t>Fast, safe, and self-documenting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98094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300">
                <a:solidFill>
                  <a:srgbClr val="FFFFFF"/>
                </a:solidFill>
                <a:latin typeface="Calibri"/>
              </a:rPr>
              <a:t>Minutes, not an afternoon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3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300">
                <a:solidFill>
                  <a:srgbClr val="CBD2DE"/>
                </a:solidFill>
                <a:latin typeface="Calibri"/>
              </a:rPr>
              <a:t>What was hand-clicking through the backoffice is now one paste.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3017520"/>
            <a:ext cx="457200" cy="457200"/>
          </a:xfrm>
          <a:prstGeom prst="ellipse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98094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300">
                <a:solidFill>
                  <a:srgbClr val="FFFFFF"/>
                </a:solidFill>
                <a:latin typeface="Calibri"/>
              </a:rPr>
              <a:t>Mis-sends made structurally hard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46703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300">
                <a:solidFill>
                  <a:srgbClr val="CBD2DE"/>
                </a:solidFill>
                <a:latin typeface="Calibri"/>
              </a:rPr>
              <a:t>The guardrails refuse the wrong thing instead of hoping you catch it.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2153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300">
                <a:solidFill>
                  <a:srgbClr val="FFFFFF"/>
                </a:solidFill>
                <a:latin typeface="Calibri"/>
              </a:rPr>
              <a:t>Drafts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581144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300">
                <a:solidFill>
                  <a:srgbClr val="CBD2DE"/>
                </a:solidFill>
                <a:latin typeface="Calibri"/>
              </a:rPr>
              <a:t>Nothing here publishes a live promotion — review stays with a human.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4251960"/>
            <a:ext cx="457200" cy="457200"/>
          </a:xfrm>
          <a:prstGeom prst="ellipse">
            <a:avLst/>
          </a:prstGeom>
          <a:solidFill>
            <a:srgbClr val="F06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4251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2153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300">
                <a:solidFill>
                  <a:srgbClr val="FFFFFF"/>
                </a:solidFill>
                <a:latin typeface="Calibri"/>
              </a:rPr>
              <a:t>One hub shows everything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4581144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300">
                <a:solidFill>
                  <a:srgbClr val="CBD2DE"/>
                </a:solidFill>
                <a:latin typeface="Calibri"/>
              </a:rPr>
              <a:t>Every generator on a single page, always in sync with the code.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1" spc="300">
                <a:solidFill>
                  <a:srgbClr val="F0613C"/>
                </a:solidFill>
                <a:latin typeface="Calibri"/>
              </a:rPr>
              <a:t>Capture once. Generate forever. Ship nothing wrong.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7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